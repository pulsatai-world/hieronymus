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Peso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Presencia de
Citas IA</c:v>
                  </c:pt>
                  <c:pt idx="1">
                    <c:v>Salud Técnica
del Sitio</c:v>
                  </c:pt>
                  <c:pt idx="2">
                    <c:v>Señales de
Autoridad</c:v>
                  </c:pt>
                  <c:pt idx="3">
                    <c:v>Fuentes
Externas</c:v>
                  </c:pt>
                  <c:pt idx="4">
                    <c:v>GEO en Redes
Sociales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20</c:v>
                </c:pt>
                <c:pt idx="2">
                  <c:v>20</c:v>
                </c:pt>
                <c:pt idx="3">
                  <c:v>15</c:v>
                </c:pt>
                <c:pt idx="4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129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7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 SHALITA CONSULTING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9601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Optimización para Motores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Generativos (GEO) B2B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Logramos que citen a tu empresa — no solo que aparezca en los resultados — cuando ChatGPT, Claude, Perplexity y Gemini responden las preguntas de tus clientes.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A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de Servicios y Borrador de Trabajo   |   Preparado para Rene Shalita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Cambio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clientes dejaron de buscar en Google. Ahora preguntan.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2468880"/>
          </a:xfrm>
          <a:prstGeom prst="roundRect">
            <a:avLst>
              <a:gd name="adj" fmla="val 3333"/>
            </a:avLst>
          </a:prstGeom>
          <a:solidFill>
            <a:srgbClr val="EAF3F7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2221992"/>
            <a:ext cx="2276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04672" y="3154680"/>
            <a:ext cx="2276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usuarios ha reemplazado la búsqueda tradicional por herramientas de IA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502152" y="1965960"/>
            <a:ext cx="2606040" cy="2468880"/>
          </a:xfrm>
          <a:prstGeom prst="roundRect">
            <a:avLst>
              <a:gd name="adj" fmla="val 3333"/>
            </a:avLst>
          </a:prstGeom>
          <a:solidFill>
            <a:srgbClr val="EAF3F7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66744" y="2221992"/>
            <a:ext cx="2276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527%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66744" y="3154680"/>
            <a:ext cx="2276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aumento anual en tráfico web referido por IA (2025)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64224" y="1965960"/>
            <a:ext cx="2606040" cy="2468880"/>
          </a:xfrm>
          <a:prstGeom prst="roundRect">
            <a:avLst>
              <a:gd name="adj" fmla="val 3333"/>
            </a:avLst>
          </a:prstGeom>
          <a:solidFill>
            <a:srgbClr val="EAF3F7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28816" y="2221992"/>
            <a:ext cx="2276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4.4x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528816" y="3154680"/>
            <a:ext cx="2276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tasa de conversión en visitantes referidos por IA vs. búsqueda orgánica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226296" y="1965960"/>
            <a:ext cx="2606040" cy="2468880"/>
          </a:xfrm>
          <a:prstGeom prst="roundRect">
            <a:avLst>
              <a:gd name="adj" fmla="val 3333"/>
            </a:avLst>
          </a:prstGeom>
          <a:solidFill>
            <a:srgbClr val="EAF3F7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390888" y="2221992"/>
            <a:ext cx="2276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390888" y="3154680"/>
            <a:ext cx="2276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marcas no tiene ninguna estrategia GEO — la ventana está abierta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4892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 de los clientes dice estar listo para comprar productos que la IA les recomienda.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investigación de la industria GEO, recopilada en mayo de 2026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GEO?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SEO te posiciona. El GEO logra que te citen.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120640" cy="4251960"/>
          </a:xfrm>
          <a:prstGeom prst="roundRect">
            <a:avLst>
              <a:gd name="adj" fmla="val 2151"/>
            </a:avLst>
          </a:prstGeom>
          <a:solidFill>
            <a:srgbClr val="21295C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19456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654" y="23490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1945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Optimización para Motores Generativos (GEO)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306324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práctica de optimizar el sitio web, el contenido y la huella digital de una empresa para que los motores de IA — ChatGPT, Claude, Perplexity, Google AI Overviews — citen y recomienden la marca directamente dentro de sus respuestas, en lugar de solo enlazarla.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60120" y="475488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9F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B2B esto significa: cuando un gerente de planta le pregunta a una IA qué proveedor de sistemas hidráulicos contactar, tu empresa es la respuesta — no un competidor a tres estados de distancia.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080760" y="1874520"/>
            <a:ext cx="502920" cy="502920"/>
          </a:xfrm>
          <a:prstGeom prst="ellipse">
            <a:avLst/>
          </a:prstGeom>
          <a:solidFill>
            <a:srgbClr val="EAF3F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1519" y="200527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720840" y="18562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manual de citas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720840" y="222199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Preguntar a ChatGPT, Perplexity, Google AI las consultas objetivo — capturar los resultados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80760" y="2944368"/>
            <a:ext cx="502920" cy="502920"/>
          </a:xfrm>
          <a:prstGeom prst="ellipse">
            <a:avLst/>
          </a:prstGeom>
          <a:solidFill>
            <a:srgbClr val="EAF3F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519" y="3075127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20840" y="2926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Model (SoM)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6720840" y="32918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qué frecuencia aparece la marca frente a competidores específicos, a lo largo del tiempo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080760" y="4014216"/>
            <a:ext cx="502920" cy="502920"/>
          </a:xfrm>
          <a:prstGeom prst="ellipse">
            <a:avLst/>
          </a:prstGeom>
          <a:solidFill>
            <a:srgbClr val="EAF3F7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1519" y="4144975"/>
            <a:ext cx="241402" cy="24140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20840" y="39959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Tráfico referido por IA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6720840" y="436168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como una fuente de referencia distinta en Google Analytics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080760" y="5084064"/>
            <a:ext cx="502920" cy="502920"/>
          </a:xfrm>
          <a:prstGeom prst="ellipse">
            <a:avLst/>
          </a:prstGeom>
          <a:solidFill>
            <a:srgbClr val="EAF3F7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1519" y="5214823"/>
            <a:ext cx="241402" cy="24140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720840" y="506577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 antes / después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6720840" y="5431536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mismas consultas se corren antes y después de la optimización, documentadas lado a lado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método, probado primero en nuestra propia propiedad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“Optimicé mi sitio web a las 9am. Para las 7pm, ChatGPT ya lo recomendaba como #1. </a:t>
            </a:r>
            <a:pPr indent="0" marL="0">
              <a:buNone/>
            </a:pPr>
            <a:r>
              <a:rPr lang="en-US" sz="1450" b="1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 hijo lo verificó de forma independiente desde San Antonio, en otro dispositivo.”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336499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3840480"/>
            <a:ext cx="25420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7240" y="3959352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Estudio #1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4297680"/>
            <a:ext cx="22677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makingoboereeds.com — 5 de mayo, 2026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83280" y="32461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152" y="336499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832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3383280" y="3840480"/>
            <a:ext cx="25420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3520440" y="3959352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el mismo día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520440" y="4297680"/>
            <a:ext cx="22677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FAQ, página Acerca de, ampliación de blog, meta descripciones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26480" y="32461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3364992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264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126480" y="3840480"/>
            <a:ext cx="25420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6263640" y="3959352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 el mismo día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263640" y="4297680"/>
            <a:ext cx="22677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lo nombró #1 para “sistema completo paso a paso”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869680" y="32461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8552" y="3364992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8696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8869680" y="3840480"/>
            <a:ext cx="25420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9006840" y="3959352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Confirmado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9006840" y="4297680"/>
            <a:ext cx="22677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(Opus 4.7) lo recomendó primero, de forma independiente, desde otra ciudad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de Estudio #2 (Fiacsa — sistemas hidráulicos industriales, Toluca) está en curso, diseñado como el primer punto de prueba B2B.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Nuestro Proceso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sistema de auditoría repetible de siete fases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78608" cy="1874520"/>
          </a:xfrm>
          <a:prstGeom prst="roundRect">
            <a:avLst>
              <a:gd name="adj" fmla="val 3902"/>
            </a:avLst>
          </a:prstGeom>
          <a:solidFill>
            <a:srgbClr val="EAF3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1762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5176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Intake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971800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Cuestionario estructurado — personas, competidores, FAQs, diferenciadores (30-45 min)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538728" y="1874520"/>
            <a:ext cx="2578608" cy="1874520"/>
          </a:xfrm>
          <a:prstGeom prst="roundRect">
            <a:avLst>
              <a:gd name="adj" fmla="val 3902"/>
            </a:avLst>
          </a:prstGeom>
          <a:solidFill>
            <a:srgbClr val="EAF3F7"/>
          </a:solidFill>
          <a:ln/>
        </p:spPr>
      </p:sp>
      <p:sp>
        <p:nvSpPr>
          <p:cNvPr id="10" name="Shape 7"/>
          <p:cNvSpPr/>
          <p:nvPr/>
        </p:nvSpPr>
        <p:spPr>
          <a:xfrm>
            <a:off x="3721608" y="20574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21762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21608" y="265176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Generación de Prompts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721608" y="2971800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del intake se convierten en 100+ consultas GEO en 5 categorías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37376" y="1874520"/>
            <a:ext cx="2578608" cy="1874520"/>
          </a:xfrm>
          <a:prstGeom prst="roundRect">
            <a:avLst>
              <a:gd name="adj" fmla="val 3902"/>
            </a:avLst>
          </a:prstGeom>
          <a:solidFill>
            <a:srgbClr val="EAF3F7"/>
          </a:solidFill>
          <a:ln/>
        </p:spPr>
      </p:sp>
      <p:sp>
        <p:nvSpPr>
          <p:cNvPr id="15" name="Shape 11"/>
          <p:cNvSpPr/>
          <p:nvPr/>
        </p:nvSpPr>
        <p:spPr>
          <a:xfrm>
            <a:off x="6620256" y="20574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21762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20256" y="265176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Pruebas en LLMs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620256" y="2971800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consulta se corre en ChatGPT, Perplexity, Claude, Gemini — con capturas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336024" y="1874520"/>
            <a:ext cx="2578608" cy="1874520"/>
          </a:xfrm>
          <a:prstGeom prst="roundRect">
            <a:avLst>
              <a:gd name="adj" fmla="val 3902"/>
            </a:avLst>
          </a:prstGeom>
          <a:solidFill>
            <a:srgbClr val="EAF3F7"/>
          </a:solidFill>
          <a:ln/>
        </p:spPr>
      </p:sp>
      <p:sp>
        <p:nvSpPr>
          <p:cNvPr id="20" name="Shape 15"/>
          <p:cNvSpPr/>
          <p:nvPr/>
        </p:nvSpPr>
        <p:spPr>
          <a:xfrm>
            <a:off x="9518904" y="20574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7776" y="217627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518904" y="265176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Auditoría de Fuentes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518904" y="2971800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Business Profile, LinkedIn, directorios, reseñas, schema, redes sociales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40080" y="4041648"/>
            <a:ext cx="2578608" cy="1874520"/>
          </a:xfrm>
          <a:prstGeom prst="roundRect">
            <a:avLst>
              <a:gd name="adj" fmla="val 3902"/>
            </a:avLst>
          </a:prstGeom>
          <a:solidFill>
            <a:srgbClr val="EAF3F7"/>
          </a:solidFill>
          <a:ln/>
        </p:spPr>
      </p:sp>
      <p:sp>
        <p:nvSpPr>
          <p:cNvPr id="25" name="Shape 19"/>
          <p:cNvSpPr/>
          <p:nvPr/>
        </p:nvSpPr>
        <p:spPr>
          <a:xfrm>
            <a:off x="822960" y="422452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4343400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22960" y="481888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Auditoría Técnica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822960" y="5138928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Noindex, schema markup, meta descripciones, autoría, páginas FAQ/Acerca de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538728" y="4041648"/>
            <a:ext cx="2578608" cy="1874520"/>
          </a:xfrm>
          <a:prstGeom prst="roundRect">
            <a:avLst>
              <a:gd name="adj" fmla="val 3902"/>
            </a:avLst>
          </a:prstGeom>
          <a:solidFill>
            <a:srgbClr val="EAF3F7"/>
          </a:solidFill>
          <a:ln/>
        </p:spPr>
      </p:sp>
      <p:sp>
        <p:nvSpPr>
          <p:cNvPr id="30" name="Shape 23"/>
          <p:cNvSpPr/>
          <p:nvPr/>
        </p:nvSpPr>
        <p:spPr>
          <a:xfrm>
            <a:off x="3721608" y="422452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0" y="4343400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721608" y="481888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Calificación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3721608" y="5138928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ponderado 0-100 de Visibilidad en IA en cinco categorías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437376" y="4041648"/>
            <a:ext cx="2578608" cy="1874520"/>
          </a:xfrm>
          <a:prstGeom prst="roundRect">
            <a:avLst>
              <a:gd name="adj" fmla="val 3902"/>
            </a:avLst>
          </a:prstGeom>
          <a:solidFill>
            <a:srgbClr val="EAF3F7"/>
          </a:solidFill>
          <a:ln/>
        </p:spPr>
      </p:sp>
      <p:sp>
        <p:nvSpPr>
          <p:cNvPr id="35" name="Shape 27"/>
          <p:cNvSpPr/>
          <p:nvPr/>
        </p:nvSpPr>
        <p:spPr>
          <a:xfrm>
            <a:off x="6620256" y="422452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9128" y="4343400"/>
            <a:ext cx="219456" cy="21945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620256" y="481888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Reporte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6620256" y="5138928"/>
            <a:ext cx="221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ejecutivo, capturas antes/después, lista de correcciones priorizadas, hoja de ruta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9336024" y="4041648"/>
            <a:ext cx="2578608" cy="1874520"/>
          </a:xfrm>
          <a:prstGeom prst="roundRect">
            <a:avLst>
              <a:gd name="adj" fmla="val 3902"/>
            </a:avLst>
          </a:prstGeom>
          <a:solidFill>
            <a:srgbClr val="065A82"/>
          </a:solidFill>
          <a:ln/>
        </p:spPr>
      </p:sp>
      <p:sp>
        <p:nvSpPr>
          <p:cNvPr id="40" name="Text 31"/>
          <p:cNvSpPr/>
          <p:nvPr/>
        </p:nvSpPr>
        <p:spPr>
          <a:xfrm>
            <a:off x="9518904" y="4224528"/>
            <a:ext cx="22128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fase es un entregable documentado para el cliente — el proceso ES el producto.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Calificación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número que el cliente puede monitorear en el tiempo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74520"/>
          <a:ext cx="630936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223760" y="1874520"/>
            <a:ext cx="868680" cy="658368"/>
          </a:xfrm>
          <a:prstGeom prst="roundRect">
            <a:avLst>
              <a:gd name="adj" fmla="val 8333"/>
            </a:avLst>
          </a:prstGeom>
          <a:solidFill>
            <a:srgbClr val="065A82"/>
          </a:solidFill>
          <a:ln/>
        </p:spPr>
      </p:sp>
      <p:sp>
        <p:nvSpPr>
          <p:cNvPr id="6" name="Text 3"/>
          <p:cNvSpPr/>
          <p:nvPr/>
        </p:nvSpPr>
        <p:spPr>
          <a:xfrm>
            <a:off x="7223760" y="187452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0-30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0" y="187452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para los motores de IA. Se requiere acción urgente.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223760" y="2660904"/>
            <a:ext cx="868680" cy="658368"/>
          </a:xfrm>
          <a:prstGeom prst="roundRect">
            <a:avLst>
              <a:gd name="adj" fmla="val 8333"/>
            </a:avLst>
          </a:prstGeom>
          <a:solidFill>
            <a:srgbClr val="065A82"/>
          </a:solidFill>
          <a:ln/>
        </p:spPr>
      </p:sp>
      <p:sp>
        <p:nvSpPr>
          <p:cNvPr id="9" name="Text 6"/>
          <p:cNvSpPr/>
          <p:nvPr/>
        </p:nvSpPr>
        <p:spPr>
          <a:xfrm>
            <a:off x="7223760" y="2660904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31-50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0" y="266090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 mínima. Brechas importantes en todas las áreas.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223760" y="3447288"/>
            <a:ext cx="868680" cy="658368"/>
          </a:xfrm>
          <a:prstGeom prst="roundRect">
            <a:avLst>
              <a:gd name="adj" fmla="val 8333"/>
            </a:avLst>
          </a:prstGeom>
          <a:solidFill>
            <a:srgbClr val="065A82"/>
          </a:solidFill>
          <a:ln/>
        </p:spPr>
      </p:sp>
      <p:sp>
        <p:nvSpPr>
          <p:cNvPr id="12" name="Text 9"/>
          <p:cNvSpPr/>
          <p:nvPr/>
        </p:nvSpPr>
        <p:spPr>
          <a:xfrm>
            <a:off x="7223760" y="3447288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51-70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0" y="344728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parcial. Se requieren ajustes técnicos y contenido.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223760" y="4233672"/>
            <a:ext cx="868680" cy="658368"/>
          </a:xfrm>
          <a:prstGeom prst="roundRect">
            <a:avLst>
              <a:gd name="adj" fmla="val 8333"/>
            </a:avLst>
          </a:prstGeom>
          <a:solidFill>
            <a:srgbClr val="065A82"/>
          </a:solidFill>
          <a:ln/>
        </p:spPr>
      </p:sp>
      <p:sp>
        <p:nvSpPr>
          <p:cNvPr id="15" name="Text 12"/>
          <p:cNvSpPr/>
          <p:nvPr/>
        </p:nvSpPr>
        <p:spPr>
          <a:xfrm>
            <a:off x="7223760" y="4233672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71-85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29600" y="423367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 base. Enfocarse en citas externas.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223760" y="5020056"/>
            <a:ext cx="868680" cy="658368"/>
          </a:xfrm>
          <a:prstGeom prst="roundRect">
            <a:avLst>
              <a:gd name="adj" fmla="val 8333"/>
            </a:avLst>
          </a:prstGeom>
          <a:solidFill>
            <a:srgbClr val="065A82"/>
          </a:solidFill>
          <a:ln/>
        </p:spPr>
      </p:sp>
      <p:sp>
        <p:nvSpPr>
          <p:cNvPr id="18" name="Text 15"/>
          <p:cNvSpPr/>
          <p:nvPr/>
        </p:nvSpPr>
        <p:spPr>
          <a:xfrm>
            <a:off x="7223760" y="5020056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86-100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229600" y="502005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Fuerte visibilidad en IA. Mantener y monitorear.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Oferta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formas de atraer clientes B2B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12080" cy="4297680"/>
          </a:xfrm>
          <a:prstGeom prst="roundRect">
            <a:avLst>
              <a:gd name="adj" fmla="val 2128"/>
            </a:avLst>
          </a:prstGeom>
          <a:solidFill>
            <a:srgbClr val="EAF3F7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945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766" y="23372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945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Auditoría GEO B2B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60120" y="2880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$1,500 – $5,000 USD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60120" y="3291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único, según el tamaño del sitio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60120" y="374904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198" y="3825118"/>
            <a:ext cx="140452" cy="1404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37216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GEO completa de 7 fases en todos los motores de IA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960120" y="420624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198" y="4282318"/>
            <a:ext cx="140452" cy="1404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178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ejecutivo formal: análisis competitivo + puntaje de visibilidad IA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960120" y="466344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198" y="4739518"/>
            <a:ext cx="140452" cy="14045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6360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de schema, página FAQ, reescritura de meta descripciones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960120" y="512064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198" y="5196718"/>
            <a:ext cx="140452" cy="14045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71600" y="50932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 de implementación, priorizada por impacto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960120" y="557784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198" y="5653918"/>
            <a:ext cx="140452" cy="14045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371600" y="55504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Versiones en español e inglés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6126480" y="187452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6446520" y="21945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9166" y="2337206"/>
            <a:ext cx="263347" cy="263347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178040" y="21945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Retainer Mensual</a:t>
            </a:r>
            <a:endParaRPr lang="en-US" sz="1900" dirty="0"/>
          </a:p>
        </p:txBody>
      </p:sp>
      <p:sp>
        <p:nvSpPr>
          <p:cNvPr id="29" name="Text 20"/>
          <p:cNvSpPr/>
          <p:nvPr/>
        </p:nvSpPr>
        <p:spPr>
          <a:xfrm>
            <a:off x="6446520" y="2880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FD2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$1,500 – $4,500 / mes</a:t>
            </a:r>
            <a:endParaRPr lang="en-US" sz="2200" dirty="0"/>
          </a:p>
        </p:txBody>
      </p:sp>
      <p:sp>
        <p:nvSpPr>
          <p:cNvPr id="30" name="Text 21"/>
          <p:cNvSpPr/>
          <p:nvPr/>
        </p:nvSpPr>
        <p:spPr>
          <a:xfrm>
            <a:off x="6446520" y="32918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continua + monitoreo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6446520" y="3749040"/>
            <a:ext cx="292608" cy="292608"/>
          </a:xfrm>
          <a:prstGeom prst="ellipse">
            <a:avLst/>
          </a:prstGeom>
          <a:solidFill>
            <a:srgbClr val="9FD2E3"/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2598" y="3825118"/>
            <a:ext cx="140452" cy="140452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858000" y="37216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5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continua de schema, contenido y blog</a:t>
            </a:r>
            <a:endParaRPr lang="en-US" sz="1200" dirty="0"/>
          </a:p>
        </p:txBody>
      </p:sp>
      <p:sp>
        <p:nvSpPr>
          <p:cNvPr id="34" name="Shape 24"/>
          <p:cNvSpPr/>
          <p:nvPr/>
        </p:nvSpPr>
        <p:spPr>
          <a:xfrm>
            <a:off x="6446520" y="4206240"/>
            <a:ext cx="292608" cy="292608"/>
          </a:xfrm>
          <a:prstGeom prst="ellipse">
            <a:avLst/>
          </a:prstGeom>
          <a:solidFill>
            <a:srgbClr val="9FD2E3"/>
          </a:solidFill>
          <a:ln/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2598" y="4282318"/>
            <a:ext cx="140452" cy="140452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6858000" y="41788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5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Reverificación de citas a 30 y 60 días contra la línea base</a:t>
            </a:r>
            <a:endParaRPr lang="en-US" sz="1200" dirty="0"/>
          </a:p>
        </p:txBody>
      </p:sp>
      <p:sp>
        <p:nvSpPr>
          <p:cNvPr id="37" name="Shape 26"/>
          <p:cNvSpPr/>
          <p:nvPr/>
        </p:nvSpPr>
        <p:spPr>
          <a:xfrm>
            <a:off x="6446520" y="4663440"/>
            <a:ext cx="292608" cy="292608"/>
          </a:xfrm>
          <a:prstGeom prst="ellipse">
            <a:avLst/>
          </a:prstGeom>
          <a:solidFill>
            <a:srgbClr val="9FD2E3"/>
          </a:solidFill>
          <a:ln/>
        </p:spPr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22598" y="4739518"/>
            <a:ext cx="140452" cy="140452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6858000" y="46360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5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en redes sociales — bios, páginas de enlaces, estructura de captions</a:t>
            </a:r>
            <a:endParaRPr lang="en-US" sz="1200" dirty="0"/>
          </a:p>
        </p:txBody>
      </p:sp>
      <p:sp>
        <p:nvSpPr>
          <p:cNvPr id="40" name="Shape 28"/>
          <p:cNvSpPr/>
          <p:nvPr/>
        </p:nvSpPr>
        <p:spPr>
          <a:xfrm>
            <a:off x="6446520" y="5120640"/>
            <a:ext cx="292608" cy="292608"/>
          </a:xfrm>
          <a:prstGeom prst="ellipse">
            <a:avLst/>
          </a:prstGeom>
          <a:solidFill>
            <a:srgbClr val="9FD2E3"/>
          </a:solidFill>
          <a:ln/>
        </p:spPr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22598" y="5196718"/>
            <a:ext cx="140452" cy="140452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6858000" y="50932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5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de citas externas — directorios, guest posts, prensa</a:t>
            </a:r>
            <a:endParaRPr lang="en-US" sz="1200" dirty="0"/>
          </a:p>
        </p:txBody>
      </p:sp>
      <p:sp>
        <p:nvSpPr>
          <p:cNvPr id="43" name="Shape 30"/>
          <p:cNvSpPr/>
          <p:nvPr/>
        </p:nvSpPr>
        <p:spPr>
          <a:xfrm>
            <a:off x="6446520" y="5577840"/>
            <a:ext cx="292608" cy="292608"/>
          </a:xfrm>
          <a:prstGeom prst="ellipse">
            <a:avLst/>
          </a:prstGeom>
          <a:solidFill>
            <a:srgbClr val="9FD2E3"/>
          </a:solidFill>
          <a:ln/>
        </p:spPr>
      </p:sp>
      <p:pic>
        <p:nvPicPr>
          <p:cNvPr id="4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22598" y="5653918"/>
            <a:ext cx="140452" cy="140452"/>
          </a:xfrm>
          <a:prstGeom prst="rect">
            <a:avLst/>
          </a:prstGeom>
        </p:spPr>
      </p:pic>
      <p:sp>
        <p:nvSpPr>
          <p:cNvPr id="45" name="Text 31"/>
          <p:cNvSpPr/>
          <p:nvPr/>
        </p:nvSpPr>
        <p:spPr>
          <a:xfrm>
            <a:off x="6858000" y="55504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5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mensual contra el puntaje de Visibilidad en IA</a:t>
            </a:r>
            <a:endParaRPr lang="en-US" sz="1200" dirty="0"/>
          </a:p>
        </p:txBody>
      </p:sp>
      <p:sp>
        <p:nvSpPr>
          <p:cNvPr id="46" name="Text 32"/>
          <p:cNvSpPr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Referencia: 5 clientes de retainer a $1,500/mes = $7,500 de ingreso mensual recurrente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realmente se corrige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78608" cy="420624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EAF3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22199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9748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páginas noindex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3813048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Autoría en cada página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4471416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Reescritura de meta descripciones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5129784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de errores tipográficos y de nombre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74720" y="1874520"/>
            <a:ext cx="2578608" cy="420624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57600" y="2103120"/>
            <a:ext cx="457200" cy="457200"/>
          </a:xfrm>
          <a:prstGeom prst="ellipse">
            <a:avLst/>
          </a:prstGeom>
          <a:solidFill>
            <a:srgbClr val="EAF3F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472" y="2221992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57600" y="269748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Markup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657600" y="315468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+ Offer (inicio)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657600" y="3813048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(Acerca de)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657600" y="4471416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/ Course / LocalBusiness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657600" y="5129784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(blog) + FAQPage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309360" y="1874520"/>
            <a:ext cx="2578608" cy="420624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492240" y="2103120"/>
            <a:ext cx="457200" cy="457200"/>
          </a:xfrm>
          <a:prstGeom prst="ellipse">
            <a:avLst/>
          </a:prstGeom>
          <a:solidFill>
            <a:srgbClr val="EAF3F7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2221992"/>
            <a:ext cx="219456" cy="2194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92240" y="269748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92240" y="315468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Reescritura de página Acerca de con datos específicos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492240" y="3813048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FAQ basada en búsquedas reales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492240" y="4471416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de blog ampliados con datos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492240" y="5129784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Párrafo de extracción IA en inicio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9144000" y="1874520"/>
            <a:ext cx="2578608" cy="420624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9326880" y="2103120"/>
            <a:ext cx="457200" cy="457200"/>
          </a:xfrm>
          <a:prstGeom prst="ellipse">
            <a:avLst/>
          </a:prstGeom>
          <a:solidFill>
            <a:srgbClr val="EAF3F7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5752" y="2221992"/>
            <a:ext cx="219456" cy="21945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326880" y="269748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 y Externo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9326880" y="315468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bio + link-in-bio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9326880" y="3813048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definicional de captions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9326880" y="4471416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Listados en directorios y GBP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9326880" y="5129784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posts / podcasts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 piloto B2B: Fiacsa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120640" cy="4160520"/>
          </a:xfrm>
          <a:prstGeom prst="roundRect">
            <a:avLst>
              <a:gd name="adj" fmla="val 2198"/>
            </a:avLst>
          </a:prstGeom>
          <a:solidFill>
            <a:srgbClr val="EAF3F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48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Fuerza Industrial y Administrativa del Centro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304495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hidráulicos industriales — venta, mantenimiento, instalación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37764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 años, marcas que maneja: Vickers, Eaton, Danfoss, Rexroth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2519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45079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Toluca, Estado de México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9834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CONOCIDO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52395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sitios web (fiacsa.mx + fiacsabombashidraulicas.com) — autoridad dividida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571500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59710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Español primario, inglés secundario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1920240"/>
            <a:ext cx="5486400" cy="4160520"/>
          </a:xfrm>
          <a:prstGeom prst="roundRect">
            <a:avLst>
              <a:gd name="adj" fmla="val 2198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2148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importa este piloto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09360" y="2743200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2570" y="2826410"/>
            <a:ext cx="153619" cy="153619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766560" y="2697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 el método B2B en un cliente industrial real, no solo en las propiedades de Joe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309360" y="3529584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2570" y="3612794"/>
            <a:ext cx="153619" cy="153619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766560" y="348386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de autoridad dividida (dos dominios) es un patrón B2B común que vale la pena resolver públicamente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309360" y="4315968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2570" y="4399178"/>
            <a:ext cx="153619" cy="153619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766560" y="42702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en español valida la herramienta de intake y los prompts para expansión en LatAm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6309360" y="5102352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2570" y="5185562"/>
            <a:ext cx="153619" cy="153619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766560" y="505663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convierte en el Caso de Estudio #2 — la base de evidencia para el contacto con la red corporativa de Rene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4114800"/>
            <a:ext cx="5029200" cy="50292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FD2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051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encaja esto en la estrategia de secuenciación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26771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08760" y="214884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la auditoría de Fiacsa — documentar como Caso de Estudio #2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286207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2980944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508760" y="2862072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Empaquetar la oferta B2B con niveles fijos según tamaño / complejidad del sitio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22960" y="357530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694176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960" y="3575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508760" y="3575304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 activa su red corporativa una vez que existan 2-3 casos de estudio verificables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822960" y="428853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407408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22960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1508760" y="4288536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empresas del portafolio de Partners for Growth como primera ola de contacto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822960" y="5257800"/>
            <a:ext cx="10515600" cy="1005840"/>
          </a:xfrm>
          <a:prstGeom prst="roundRect">
            <a:avLst>
              <a:gd name="adj" fmla="val 7273"/>
            </a:avLst>
          </a:prstGeom>
          <a:solidFill>
            <a:srgbClr val="065A82"/>
          </a:solidFill>
          <a:ln/>
        </p:spPr>
      </p:sp>
      <p:sp>
        <p:nvSpPr>
          <p:cNvPr id="23" name="Text 17"/>
          <p:cNvSpPr/>
          <p:nvPr/>
        </p:nvSpPr>
        <p:spPr>
          <a:xfrm>
            <a:off x="1097280" y="525780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Rene: usa este deck como esquema de trabajo — agrega los resultados de Fiacsa y los niveles de precio conforme se definan.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 para B2B — Oferta de Servicios</dc:title>
  <dc:subject>PptxGenJS Presentation</dc:subject>
  <dc:creator>Joe Shalita Consulting</dc:creator>
  <cp:lastModifiedBy>Joe Shalita Consulting</cp:lastModifiedBy>
  <cp:revision>1</cp:revision>
  <dcterms:created xsi:type="dcterms:W3CDTF">2026-07-02T21:59:50Z</dcterms:created>
  <dcterms:modified xsi:type="dcterms:W3CDTF">2026-07-02T21:59:50Z</dcterms:modified>
</cp:coreProperties>
</file>